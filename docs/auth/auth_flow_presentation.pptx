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Yu Gothic"/>
              </a:rPr>
              <a:t>Camera TV 認証フロー説明資料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B8BFCC"/>
                </a:solidFill>
                <a:latin typeface="Yu Gothic"/>
              </a:rPr>
              <a:t>PKCE 擬似デバイスフロー: TV はQRを表示し、PCブラウザでSonyアカウントへログインする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2148840"/>
            <a:ext cx="10835640" cy="356616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Yu Gothic"/>
              </a:rPr>
              <a:t>資料の範囲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03580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5F7FA"/>
                </a:solidFill>
                <a:latin typeface="Yu Gothic"/>
              </a:defRPr>
            </a:pPr>
            <a:r>
              <a:t>TV画面: 認証準備、QR/確認コード、認証後の遷移</a:t>
            </a:r>
          </a:p>
          <a:p>
            <a:pPr>
              <a:spcAft>
                <a:spcPts val="700"/>
              </a:spcAft>
              <a:defRPr sz="1800">
                <a:solidFill>
                  <a:srgbClr val="F5F7FA"/>
                </a:solidFill>
                <a:latin typeface="Yu Gothic"/>
              </a:defRPr>
            </a:pPr>
            <a:r>
              <a:t>ブラウザ画面: Creators Cloud サインイン、ログイン完了</a:t>
            </a:r>
          </a:p>
          <a:p>
            <a:pPr>
              <a:spcAft>
                <a:spcPts val="700"/>
              </a:spcAft>
              <a:defRPr sz="1800">
                <a:solidFill>
                  <a:srgbClr val="F5F7FA"/>
                </a:solidFill>
                <a:latin typeface="Yu Gothic"/>
              </a:defRPr>
            </a:pPr>
            <a:r>
              <a:t>シーケンス図: 単一Mermaidから生成したPNGを貼り込み</a:t>
            </a:r>
          </a:p>
          <a:p>
            <a:pPr>
              <a:spcAft>
                <a:spcPts val="700"/>
              </a:spcAft>
              <a:defRPr sz="1800">
                <a:solidFill>
                  <a:srgbClr val="F5F7FA"/>
                </a:solidFill>
                <a:latin typeface="Yu Gothic"/>
              </a:defRPr>
            </a:pPr>
            <a:r>
              <a:t>セキュリティ: 残リスクと対策案を整理</a:t>
            </a:r>
          </a:p>
        </p:txBody>
      </p:sp>
      <p:pic>
        <p:nvPicPr>
          <p:cNvPr id="7" name="Picture 6" descr="auth-tv-02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903" y="2487168"/>
            <a:ext cx="430784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1996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8BFCC"/>
                </a:solidFill>
                <a:latin typeface="Yu Gothic"/>
              </a:rPr>
              <a:t>画面取得日: 2026-09-10 / 図更新日: 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認証の全体シーケンス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BFCC"/>
                </a:solidFill>
                <a:latin typeface="Yu Gothic"/>
              </a:rPr>
              <a:t>docs/auth_sequence_full.mmd から生成したPNGをそのまま貼り込み</a:t>
            </a:r>
          </a:p>
        </p:txBody>
      </p:sp>
      <p:pic>
        <p:nvPicPr>
          <p:cNvPr id="4" name="Picture 3" descr="auth-sequence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608" y="1024128"/>
            <a:ext cx="341402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データフロー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BFCC"/>
                </a:solidFill>
                <a:latin typeface="Yu Gothic"/>
              </a:rPr>
              <a:t>秘密値と中継値の通過経路</a:t>
            </a:r>
          </a:p>
        </p:txBody>
      </p:sp>
      <p:pic>
        <p:nvPicPr>
          <p:cNvPr id="4" name="Picture 3" descr="auth-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708" y="1207008"/>
            <a:ext cx="9614679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9107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FCC"/>
                </a:solidFill>
                <a:latin typeface="Yu Gothic"/>
              </a:rPr>
              <a:t>元図: docs/auth_data_flow.mmd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TV画面 1: 認証準備</a:t>
            </a:r>
          </a:p>
        </p:txBody>
      </p:sp>
      <p:pic>
        <p:nvPicPr>
          <p:cNvPr id="3" name="Picture 2" descr="auth-tv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45870"/>
            <a:ext cx="6949439" cy="39090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73568" y="1005840"/>
            <a:ext cx="3566160" cy="4389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7888" y="141732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有効な refresh_token がない場合、認証画面へ入る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TV内で code_verifier / code_challenge を生成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pairing.serverUrl の /device/authorize に接続する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TV画面 2: QR と確認コード</a:t>
            </a:r>
          </a:p>
        </p:txBody>
      </p:sp>
      <p:pic>
        <p:nvPicPr>
          <p:cNvPr id="3" name="Picture 2" descr="auth-tv-02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45870"/>
            <a:ext cx="6949439" cy="39090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73568" y="1005840"/>
            <a:ext cx="3566160" cy="4389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7888" y="141732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QRには user_code 入りのURLを表示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確認コードはQRが読めない場合の代替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TVは /device/code を定期ポーリングする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ブラウザ画面 1: Creators Cloud サインイン</a:t>
            </a:r>
          </a:p>
        </p:txBody>
      </p:sp>
      <p:pic>
        <p:nvPicPr>
          <p:cNvPr id="3" name="Picture 2" descr="auth-browser-01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45392"/>
            <a:ext cx="6949440" cy="39100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73568" y="1005840"/>
            <a:ext cx="3566160" cy="4389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7888" y="141732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PCブラウザでQRのURLを開く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中継サーバーがAccountPFへ302リダイレクト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認証情報はブラウザにだけ入力する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ログイン完了後</a:t>
            </a:r>
          </a:p>
        </p:txBody>
      </p:sp>
      <p:pic>
        <p:nvPicPr>
          <p:cNvPr id="3" name="Picture 2" descr="auth-browser-02-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39" y="1005840"/>
            <a:ext cx="6434896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973568" y="1005840"/>
            <a:ext cx="3566160" cy="4389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7888" y="141732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ブラウザに「テレビに戻ってください」と表示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TVは次回ポーリングで auth_code を受け取る</a:t>
            </a:r>
          </a:p>
          <a:p>
            <a:pPr>
              <a:spcAft>
                <a:spcPts val="700"/>
              </a:spcAft>
              <a:defRPr sz="1600">
                <a:solidFill>
                  <a:srgbClr val="F5F7FA"/>
                </a:solidFill>
                <a:latin typeface="Yu Gothic"/>
              </a:defRPr>
            </a:pPr>
            <a:r>
              <a:t>認証後はチュートリアルまたは写真画面へ遷移する</a:t>
            </a:r>
          </a:p>
        </p:txBody>
      </p:sp>
      <p:pic>
        <p:nvPicPr>
          <p:cNvPr id="6" name="Picture 5" descr="auth-tv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940" y="3886200"/>
            <a:ext cx="25196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セキュリティ確認結果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BFCC"/>
                </a:solidFill>
                <a:latin typeface="Yu Gothic"/>
              </a:rPr>
              <a:t>2026-09-11 時点の実装とMDを照合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435607"/>
            <a:ext cx="713232" cy="256032"/>
          </a:xfrm>
          <a:prstGeom prst="roundRect">
            <a:avLst/>
          </a:prstGeom>
          <a:solidFill>
            <a:srgbClr val="1C9C61"/>
          </a:solidFill>
          <a:ln>
            <a:solidFill>
              <a:srgbClr val="1C9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7612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898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code_verifierはTVメモリのみ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89888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サーバーAPIは code_challenge と device_code だけを受け取る。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93391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148839"/>
            <a:ext cx="713232" cy="256032"/>
          </a:xfrm>
          <a:prstGeom prst="roundRect">
            <a:avLst/>
          </a:prstGeom>
          <a:solidFill>
            <a:srgbClr val="1C9C61"/>
          </a:solidFill>
          <a:ln>
            <a:solidFill>
              <a:srgbClr val="1C9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80844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03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トークン交換はTVが直接実行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PairingApi.exchangeToken が AccountPF の絶対URLへHTTPS送信。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2862072"/>
            <a:ext cx="713232" cy="256032"/>
          </a:xfrm>
          <a:prstGeom prst="roundRect">
            <a:avLst/>
          </a:prstGeom>
          <a:solidFill>
            <a:srgbClr val="1C9C61"/>
          </a:solidFill>
          <a:ln>
            <a:solidFill>
              <a:srgbClr val="1C9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94076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163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auth_codeは単回中継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16352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/device/code 成功時に store.delete(device_code) で破棄。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19856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3575304"/>
            <a:ext cx="713232" cy="256032"/>
          </a:xfrm>
          <a:prstGeom prst="roundRect">
            <a:avLst/>
          </a:prstGeom>
          <a:solidFill>
            <a:srgbClr val="1C9C61"/>
          </a:solidFill>
          <a:ln>
            <a:solidFill>
              <a:srgbClr val="1C9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07308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5295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トークン保存先はTV DataStore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29584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TokenPreferences.saveAuthTokens が access/refresh token を保存。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33088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4288536"/>
            <a:ext cx="713232" cy="256032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20540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注意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2428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user_codeの先行ログイン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242816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第三者に見えると、その人のアカウントが紐付く可能性。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46320"/>
            <a:ext cx="10835640" cy="621792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" y="5001768"/>
            <a:ext cx="713232" cy="256032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033772"/>
            <a:ext cx="713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注意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956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HTTP平文区間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956048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FCC"/>
                </a:solidFill>
                <a:latin typeface="Yu Gothic"/>
              </a:rPr>
              <a:t>auth_code単体では使えないが、認証妨害の余地は残る。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結論: 現状はトークン漏えいにつながる設計上の問題は見当たらない。ただし確認コード露出とHTTP平文区間には運用・実装対策を推奨。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Yu Gothic"/>
              </a:rPr>
              <a:t>脆弱性リスクへの対策案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BFCC"/>
                </a:solidFill>
                <a:latin typeface="Yu Gothic"/>
              </a:rPr>
              <a:t>PPTXで注意喚起した2点への実装・運用対策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960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807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Yu Gothic"/>
              </a:rPr>
              <a:t>user_codeの先行ログイン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80744"/>
            <a:ext cx="7360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7FA"/>
                </a:solidFill>
                <a:latin typeface="Yu Gothic"/>
              </a:rPr>
              <a:t>TV画面に「表示コードを他人に見せない」を明記。短時間TTLを維持。ログ出力は開発ビルド限定にする。必要ならブラウザ完了後にTVへアカウント名の確認画面を出す。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13432"/>
            <a:ext cx="10835640" cy="960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597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Yu Gothic"/>
              </a:rPr>
              <a:t>HTTP平文区間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59736"/>
            <a:ext cx="7360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7FA"/>
                </a:solidFill>
                <a:latin typeface="Yu Gothic"/>
              </a:rPr>
              <a:t>同一LAN限定の運用を明文化。社外/共有ネットワークではトンネルまたはHTTPS終端を使う。将来は中継サーバーをHTTPS化し、TV側で許可ホストを固定する。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92424"/>
            <a:ext cx="10835640" cy="960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387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Yu Gothic"/>
              </a:rPr>
              <a:t>auth_code先取りによるDoS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38728"/>
            <a:ext cx="7360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7FA"/>
                </a:solidFill>
                <a:latin typeface="Yu Gothic"/>
              </a:rPr>
              <a:t>/device/code に device_code 以外の追加証明を入れる案を検討。例: TVが保持するnonce由来の確認値をサーバーに事前登録し、ポーリング時に照合する。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71416"/>
            <a:ext cx="10835640" cy="960120"/>
          </a:xfrm>
          <a:prstGeom prst="roundRect">
            <a:avLst/>
          </a:prstGeom>
          <a:solidFill>
            <a:srgbClr val="181B23"/>
          </a:solidFill>
          <a:ln w="12700">
            <a:solidFill>
              <a:srgbClr val="3A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Yu Gothic"/>
              </a:rPr>
              <a:t>ログ露出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617720"/>
            <a:ext cx="7360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7FA"/>
                </a:solidFill>
                <a:latin typeface="Yu Gothic"/>
              </a:rPr>
              <a:t>サーバーコンソールとlogcatの user_code / URL 出力を debug フラグ配下に置く。資料・ログ共有時は user_code と auth_code をマスクする。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Yu Gothic"/>
              </a:rPr>
              <a:t>優先度: まずログ出力の制御と画面文言追加、次にHTTPS化/許可ホスト固定。追加証明は脅威モデルを広げる場合に設計する。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